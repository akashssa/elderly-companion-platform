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sldIdLst>
    <p:sldId id="257" r:id="rId2"/>
    <p:sldId id="258" r:id="rId3"/>
    <p:sldId id="259" r:id="rId4"/>
    <p:sldId id="260" r:id="rId5"/>
    <p:sldId id="264" r:id="rId6"/>
    <p:sldId id="261" r:id="rId7"/>
    <p:sldId id="262" r:id="rId8"/>
    <p:sldId id="265" r:id="rId9"/>
    <p:sldId id="263" r:id="rId10"/>
    <p:sldId id="266" r:id="rId11"/>
    <p:sldId id="268" r:id="rId12"/>
    <p:sldId id="267" r:id="rId13"/>
    <p:sldId id="358" r:id="rId14"/>
    <p:sldId id="276" r:id="rId15"/>
    <p:sldId id="269" r:id="rId16"/>
    <p:sldId id="270" r:id="rId17"/>
    <p:sldId id="271" r:id="rId18"/>
    <p:sldId id="272" r:id="rId19"/>
    <p:sldId id="273" r:id="rId20"/>
    <p:sldId id="278" r:id="rId21"/>
    <p:sldId id="279" r:id="rId22"/>
    <p:sldId id="280" r:id="rId23"/>
    <p:sldId id="281" r:id="rId24"/>
    <p:sldId id="282" r:id="rId25"/>
    <p:sldId id="283" r:id="rId26"/>
    <p:sldId id="288" r:id="rId27"/>
    <p:sldId id="285" r:id="rId28"/>
    <p:sldId id="286" r:id="rId29"/>
    <p:sldId id="287" r:id="rId30"/>
    <p:sldId id="289" r:id="rId31"/>
    <p:sldId id="290" r:id="rId32"/>
    <p:sldId id="291" r:id="rId33"/>
    <p:sldId id="292" r:id="rId34"/>
    <p:sldId id="293" r:id="rId35"/>
    <p:sldId id="295" r:id="rId36"/>
    <p:sldId id="294" r:id="rId37"/>
    <p:sldId id="296" r:id="rId38"/>
    <p:sldId id="297" r:id="rId39"/>
    <p:sldId id="298" r:id="rId40"/>
    <p:sldId id="299" r:id="rId41"/>
    <p:sldId id="300" r:id="rId42"/>
    <p:sldId id="301" r:id="rId43"/>
    <p:sldId id="305" r:id="rId44"/>
    <p:sldId id="302" r:id="rId45"/>
    <p:sldId id="303" r:id="rId46"/>
    <p:sldId id="304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9" r:id="rId97"/>
    <p:sldId id="360" r:id="rId98"/>
    <p:sldId id="355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4D91F-5BA2-46AE-87D7-4AD6094E659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CE5AA-A639-4BB3-ABB9-D7ED186BE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3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81208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3400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1049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62718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49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8179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08493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43448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20176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80996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62525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69578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85923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51629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41186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86009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70129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14675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91537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45256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68057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74410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02145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926310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39491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82356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2711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25740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723589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786264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539586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089588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86392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55115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5306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97617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058970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572098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484514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155018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770529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518294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998687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55780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563904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389093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69018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093883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891880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401122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477933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443410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217614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741747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067019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158874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429037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532856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212792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495420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667663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404479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084042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3545778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349270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225551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8382916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9431925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9936130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6592490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7563225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4734767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665861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611325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92718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2364408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920193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957754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463199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9930774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2027572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568603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5456947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6216896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416236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707235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7153671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70018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7539840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6971512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11264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4585247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2226597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3580395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4211590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6646178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9732900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943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7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1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3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7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9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5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7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8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110C4-37D0-42A4-826F-3BD4E237119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DCF98-16EE-4BD6-8EEB-36CB286C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0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001603" y="1969181"/>
            <a:ext cx="8675195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5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2: Network Layer-Part I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6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76260" y="310634"/>
            <a:ext cx="21379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IPv4 addresses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2608" y="944143"/>
            <a:ext cx="1073426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identifier used in the IP layer of the TCP/IP protocol suite to identify the connection of each device to the Internet is called the </a:t>
            </a:r>
            <a:r>
              <a:rPr lang="en-US" sz="24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address or IP address.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IPv4 address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32-bit address that uniquely and universally defines the connection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host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router to the Internet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IP address is the address of the connection, 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router, because if the device is moved to another network, the IP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changed.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device has two connections to the Internet, via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networks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has two IPv4 addresses.</a:t>
            </a:r>
          </a:p>
        </p:txBody>
      </p:sp>
    </p:spTree>
    <p:extLst>
      <p:ext uri="{BB962C8B-B14F-4D97-AF65-F5344CB8AC3E}">
        <p14:creationId xmlns:p14="http://schemas.microsoft.com/office/powerpoint/2010/main" val="187817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79442" y="1426699"/>
            <a:ext cx="103516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addresses used by the protocol.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 protocol uses </a:t>
            </a:r>
            <a:r>
              <a:rPr lang="en-US" sz="2400" b="0" i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 to define an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address, the address space is 2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^b</a:t>
            </a:r>
            <a:r>
              <a:rPr lang="en-US" sz="2400" b="0" i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each bit can have two different values (0 or 1).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IPv4 uses 32-bit addresses, which means that the address space is 2^32 or 4,294,967,296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(more than four billion).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94621" y="260350"/>
            <a:ext cx="2451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ddress space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980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35104" y="207031"/>
            <a:ext cx="6958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different notations in IPv4 addressing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859" y="2529037"/>
            <a:ext cx="8130209" cy="34558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665" y="1018456"/>
            <a:ext cx="629602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1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676400" y="1524000"/>
            <a:ext cx="96873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IPv4 address from binary notation to dotted-decimal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10111001 01001110 11000110 01101000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Convert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IPv4 address from dotted-decimal to binary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145.14.6.8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6400" y="304800"/>
            <a:ext cx="33064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3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78055" y="314980"/>
            <a:ext cx="39397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in Addressing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199" y="1000779"/>
            <a:ext cx="106911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32-bit IPv4 address is hierarchical, but divided only into two parts.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irst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address, called the </a:t>
            </a:r>
            <a:r>
              <a:rPr lang="en-US" sz="2400" b="0" i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defines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econd part of the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address, called the </a:t>
            </a:r>
            <a:r>
              <a:rPr lang="en-US" sz="2400" b="0" i="1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defines the node (connection of a device to the Internet).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354" y="2526671"/>
            <a:ext cx="6064881" cy="358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3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08169" y="152400"/>
            <a:ext cx="343465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i="0" u="none" strike="noStrike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Classful</a:t>
            </a:r>
            <a:r>
              <a:rPr lang="en-US" sz="3000" b="1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Addressing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946150"/>
            <a:ext cx="106249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prefix can be fixed length or variable length.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identifier in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IPv4 was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designed as a fixed-length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prefix 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referred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classful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scheme, which is referred to as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 addressing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uses a variable-length network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prefix.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address space was</a:t>
            </a:r>
            <a:r>
              <a:rPr lang="en-US" sz="2400" b="0" i="0" u="none" strike="noStrik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five classes (class A, B, C, D, and 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temp_10.jpg"/>
          <p:cNvPicPr>
            <a:picLocks noChangeAspect="1"/>
          </p:cNvPicPr>
          <p:nvPr/>
        </p:nvPicPr>
        <p:blipFill rotWithShape="1">
          <a:blip r:embed="rId3"/>
          <a:srcRect l="3768" t="29952" r="5362" b="27149"/>
          <a:stretch/>
        </p:blipFill>
        <p:spPr>
          <a:xfrm>
            <a:off x="1676400" y="3243274"/>
            <a:ext cx="8309114" cy="29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5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412" y="2903883"/>
            <a:ext cx="8492987" cy="3621735"/>
          </a:xfrm>
          <a:prstGeom prst="rect">
            <a:avLst/>
          </a:prstGeom>
        </p:spPr>
      </p:pic>
      <p:pic>
        <p:nvPicPr>
          <p:cNvPr id="7" name="Picture 6" descr="temp_12.jpg"/>
          <p:cNvPicPr>
            <a:picLocks noChangeAspect="1"/>
          </p:cNvPicPr>
          <p:nvPr/>
        </p:nvPicPr>
        <p:blipFill rotWithShape="1">
          <a:blip r:embed="rId4"/>
          <a:srcRect l="15217" t="4637" r="18551" b="57101"/>
          <a:stretch/>
        </p:blipFill>
        <p:spPr>
          <a:xfrm>
            <a:off x="2690191" y="152400"/>
            <a:ext cx="6056244" cy="262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52079" y="114623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10.10.56.80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240.230.220.89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1.2.3.4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99.88.67.89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100.200.89.90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256.195.1.156.89.1.2.5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10.065.34.56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200.28.256.8</a:t>
            </a:r>
          </a:p>
        </p:txBody>
      </p:sp>
      <p:sp>
        <p:nvSpPr>
          <p:cNvPr id="3" name="Rectangle 2"/>
          <p:cNvSpPr/>
          <p:nvPr/>
        </p:nvSpPr>
        <p:spPr>
          <a:xfrm>
            <a:off x="1773034" y="295075"/>
            <a:ext cx="676153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VALID/ INVALID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ADDRESSES</a:t>
            </a:r>
          </a:p>
        </p:txBody>
      </p:sp>
    </p:spTree>
    <p:extLst>
      <p:ext uri="{BB962C8B-B14F-4D97-AF65-F5344CB8AC3E}">
        <p14:creationId xmlns:p14="http://schemas.microsoft.com/office/powerpoint/2010/main" val="88451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676399" y="946052"/>
            <a:ext cx="84615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class of the following dotted decimal IPv4 addresses.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10.10.200.6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172.15.165.1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230.10.65.30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341920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class of the following IPv4 address: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11110111 11110011 10000111 11011101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10101111 11000000 11110000 00011101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11011111 10110000 00011111 01011101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11101111 11110111 11000111 00011101</a:t>
            </a:r>
          </a:p>
        </p:txBody>
      </p:sp>
    </p:spTree>
    <p:extLst>
      <p:ext uri="{BB962C8B-B14F-4D97-AF65-F5344CB8AC3E}">
        <p14:creationId xmlns:p14="http://schemas.microsoft.com/office/powerpoint/2010/main" val="237826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 descr="temp_12.jpg"/>
          <p:cNvPicPr>
            <a:picLocks noChangeAspect="1"/>
          </p:cNvPicPr>
          <p:nvPr/>
        </p:nvPicPr>
        <p:blipFill rotWithShape="1">
          <a:blip r:embed="rId3"/>
          <a:srcRect l="13913" t="52367" r="20869" b="5970"/>
          <a:stretch/>
        </p:blipFill>
        <p:spPr>
          <a:xfrm>
            <a:off x="1676400" y="946149"/>
            <a:ext cx="9254947" cy="443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6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1547812"/>
            <a:ext cx="84772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9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152" r="1833" b="2650"/>
          <a:stretch/>
        </p:blipFill>
        <p:spPr>
          <a:xfrm>
            <a:off x="0" y="-87243"/>
            <a:ext cx="5194852" cy="33844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0" y="3297238"/>
            <a:ext cx="73533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7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43" y="906353"/>
            <a:ext cx="8203096" cy="48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 descr="temp_21.jpg"/>
          <p:cNvPicPr>
            <a:picLocks noChangeAspect="1"/>
          </p:cNvPicPr>
          <p:nvPr/>
        </p:nvPicPr>
        <p:blipFill rotWithShape="1">
          <a:blip r:embed="rId3"/>
          <a:srcRect l="145" t="37294" r="-145" b="18647"/>
          <a:stretch/>
        </p:blipFill>
        <p:spPr>
          <a:xfrm>
            <a:off x="1485900" y="864702"/>
            <a:ext cx="9144000" cy="302149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245" y="4146549"/>
            <a:ext cx="7906372" cy="14024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47531" y="284087"/>
            <a:ext cx="83823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Slash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- classless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interdomain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(CIDR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35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232343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028343"/>
            <a:ext cx="1029362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ormally like to know three pieces of information about the block to which the address belongs: </a:t>
            </a:r>
          </a:p>
          <a:p>
            <a:pPr algn="just"/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1.Number of addresses. 2.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irst address 3.Last address. </a:t>
            </a:r>
          </a:p>
          <a:p>
            <a:pPr algn="just"/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addresses in the block is found as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2^(32−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the first address, we keep the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bits and set the (32 −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rightmost bits all to 0s.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the last address, we keep the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leftmost bits and set the (32 −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rightmost bits all to 1s.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0275" y="315129"/>
            <a:ext cx="6418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Information from an Address</a:t>
            </a:r>
          </a:p>
        </p:txBody>
      </p:sp>
    </p:spTree>
    <p:extLst>
      <p:ext uri="{BB962C8B-B14F-4D97-AF65-F5344CB8AC3E}">
        <p14:creationId xmlns:p14="http://schemas.microsoft.com/office/powerpoint/2010/main" val="122925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58956" y="1253600"/>
            <a:ext cx="955481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 address is given as 167.199.170.82/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 the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</a:t>
            </a:r>
          </a:p>
          <a:p>
            <a:pPr marL="342900" indent="-342900">
              <a:buFontTx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classless address is given as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205.16.37.39/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</a:t>
            </a:r>
          </a:p>
          <a:p>
            <a:pPr marL="342900" indent="-342900">
              <a:buFontTx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74123" y="338178"/>
            <a:ext cx="1540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5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046063"/>
            <a:ext cx="1039964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to find the first and last addresses in the block is to use the address mask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addresses in the block N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(mask) + 1.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address in the block = (Any address in the block)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(mask).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address in the block = (Any address in the block)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(mask)].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77053" y="414894"/>
            <a:ext cx="2382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3305155"/>
            <a:ext cx="49795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 address is given as 167.199.170.82/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 the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08034" y="3467002"/>
            <a:ext cx="53936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classless address is given as 205.16.37.39/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address</a:t>
            </a:r>
          </a:p>
          <a:p>
            <a:pPr marL="342900" indent="-3429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</a:t>
            </a:r>
          </a:p>
        </p:txBody>
      </p:sp>
    </p:spTree>
    <p:extLst>
      <p:ext uri="{BB962C8B-B14F-4D97-AF65-F5344CB8AC3E}">
        <p14:creationId xmlns:p14="http://schemas.microsoft.com/office/powerpoint/2010/main" val="119945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19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67409" y="765046"/>
            <a:ext cx="107210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subnet is a logical subdivision of an IP network.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practice of dividing a network into two or more networks is called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that belong to a subnet are addressed with an identical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most-significant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bit-group in their IP addresses.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76400" y="338178"/>
            <a:ext cx="1622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95" r="1459" b="2969"/>
          <a:stretch/>
        </p:blipFill>
        <p:spPr>
          <a:xfrm>
            <a:off x="2487680" y="2688732"/>
            <a:ext cx="6351520" cy="40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1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425" t="1881" r="1348" b="3396"/>
          <a:stretch/>
        </p:blipFill>
        <p:spPr>
          <a:xfrm>
            <a:off x="2491407" y="861398"/>
            <a:ext cx="6334541" cy="34966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76400" y="338178"/>
            <a:ext cx="2841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Address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0660" y="4309408"/>
            <a:ext cx="67321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	 Mask 		       Interface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144.16.0.0 	255.255.0.0 	            eth 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144.16.64.0 	255.255.224.0	            eth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16.68.0 	255.255.255.0 	eth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144.16.68.64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255.255.255.224 	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636327" y="4533543"/>
            <a:ext cx="63578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of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Packet 144.16.68.117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operation between Mask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IP Address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9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676400" y="318052"/>
            <a:ext cx="5625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Allocation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835129"/>
            <a:ext cx="1103574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classless addressing, the address space is divided into variable-length blocks, and organizations can be granted one block of addresses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Block must be contiguous.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Address must be (Power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2^0,2^1,2^2….. 2^32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1,2,4,8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16…….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First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must be divisible 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No.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Address.(We need to convert the IP address to decimal)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18.14.12.0/22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N=2^32-n, Where N= total number of address, n=Prefix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N=2^32-22=2^10= 1024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ISP has requested a block of 1000 addresses.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3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345659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4631" y="879257"/>
            <a:ext cx="1109206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(or an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ISP) that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granted a range of addresses may divide the range into several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subranges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assign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subrange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subnet). 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the total number of addresses granted to the organization is N, the prefix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is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assigned number of addresses to 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prefix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for 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30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steps need to be carefully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to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 the proper operation of the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addresses in 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a power of 2.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length for 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found using the following formula: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 =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=2^32-n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address in each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divisible by the number of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addresses in that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97496" y="306483"/>
            <a:ext cx="197842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32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838200"/>
            <a:ext cx="1049240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organization is granted a block of addresses with the beginning address 14.24.74.0/24.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have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subblocks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addresses to use in its three subnets: one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addresses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60 addresses, and one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120 addresses. Design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subblocks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6400" y="260350"/>
            <a:ext cx="3876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460"/>
          <a:stretch/>
        </p:blipFill>
        <p:spPr>
          <a:xfrm>
            <a:off x="2185780" y="2777192"/>
            <a:ext cx="7143751" cy="344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75862" y="706398"/>
            <a:ext cx="110390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advantages of the CIDR strategy is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aggregation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(sometimes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summarization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of addresses are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to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larger block, routing can be done based on the prefix of the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block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6400" y="152400"/>
            <a:ext cx="362169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Aggregation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245"/>
          <a:stretch/>
        </p:blipFill>
        <p:spPr>
          <a:xfrm>
            <a:off x="2402486" y="2311628"/>
            <a:ext cx="7585812" cy="37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38472" y="230228"/>
            <a:ext cx="78737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Host Configuration Protocol (DHCP)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82" y="946150"/>
            <a:ext cx="4346073" cy="26319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55" y="1969719"/>
            <a:ext cx="6624633" cy="41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1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567" y="1168401"/>
            <a:ext cx="65151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0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12" y="1095375"/>
            <a:ext cx="71913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6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849" t="1133" r="1"/>
          <a:stretch/>
        </p:blipFill>
        <p:spPr>
          <a:xfrm>
            <a:off x="408073" y="946150"/>
            <a:ext cx="11398548" cy="51943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8454" y="392153"/>
            <a:ext cx="392569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message format</a:t>
            </a:r>
          </a:p>
        </p:txBody>
      </p:sp>
    </p:spTree>
    <p:extLst>
      <p:ext uri="{BB962C8B-B14F-4D97-AF65-F5344CB8AC3E}">
        <p14:creationId xmlns:p14="http://schemas.microsoft.com/office/powerpoint/2010/main" val="416729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29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158" y="1315997"/>
            <a:ext cx="9718329" cy="38921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278296"/>
            <a:ext cx="38895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33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757" y="809625"/>
            <a:ext cx="9043471" cy="62537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63757" y="201653"/>
            <a:ext cx="347723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DHCP</a:t>
            </a:r>
          </a:p>
        </p:txBody>
      </p:sp>
    </p:spTree>
    <p:extLst>
      <p:ext uri="{BB962C8B-B14F-4D97-AF65-F5344CB8AC3E}">
        <p14:creationId xmlns:p14="http://schemas.microsoft.com/office/powerpoint/2010/main" val="303168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676400" y="176253"/>
            <a:ext cx="512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 for the DHCP client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838200"/>
            <a:ext cx="9309652" cy="496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7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8834" y="324926"/>
            <a:ext cx="60126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Address Resolution (NAT)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99" y="1213954"/>
            <a:ext cx="9962945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5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62199" y="414894"/>
            <a:ext cx="37962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-Italic"/>
              </a:rPr>
              <a:t>Address translation</a:t>
            </a:r>
            <a:endParaRPr lang="en-US" sz="3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168400"/>
            <a:ext cx="10397258" cy="33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53" y="265113"/>
            <a:ext cx="9867418" cy="57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7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676400" y="360919"/>
            <a:ext cx="484652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Pool of IP Addresses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7078" y="959715"/>
            <a:ext cx="1125109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-Roman"/>
              </a:rPr>
              <a:t>The use of only one global address by the NAT router allows only one </a:t>
            </a:r>
            <a:r>
              <a:rPr lang="en-US" sz="2400" dirty="0" smtClean="0">
                <a:latin typeface="Times-Roman"/>
              </a:rPr>
              <a:t>private-network host </a:t>
            </a:r>
            <a:r>
              <a:rPr lang="en-US" sz="2400" dirty="0">
                <a:latin typeface="Times-Roman"/>
              </a:rPr>
              <a:t>to access a given external host. </a:t>
            </a:r>
            <a:endParaRPr lang="en-US" sz="2400" dirty="0" smtClean="0">
              <a:latin typeface="Times-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 smtClean="0">
              <a:latin typeface="Times-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-Roman"/>
              </a:rPr>
              <a:t>To </a:t>
            </a:r>
            <a:r>
              <a:rPr lang="en-US" sz="2400" dirty="0">
                <a:latin typeface="Times-Roman"/>
              </a:rPr>
              <a:t>remove this restriction, the NAT router can </a:t>
            </a:r>
            <a:r>
              <a:rPr lang="en-US" sz="2400" dirty="0" smtClean="0">
                <a:latin typeface="Times-Roman"/>
              </a:rPr>
              <a:t>use a </a:t>
            </a:r>
            <a:r>
              <a:rPr lang="en-US" sz="2400" dirty="0">
                <a:latin typeface="Times-Roman"/>
              </a:rPr>
              <a:t>pool of global addresses. </a:t>
            </a:r>
            <a:endParaRPr lang="en-US" sz="2400" dirty="0" smtClean="0">
              <a:latin typeface="Times-Roman"/>
            </a:endParaRPr>
          </a:p>
          <a:p>
            <a:pPr algn="just"/>
            <a:endParaRPr lang="en-US" sz="2400" dirty="0" smtClean="0">
              <a:latin typeface="Times-Roman"/>
            </a:endParaRPr>
          </a:p>
          <a:p>
            <a:pPr algn="just"/>
            <a:r>
              <a:rPr lang="en-US" sz="2400" dirty="0" smtClean="0">
                <a:latin typeface="Times-Roman"/>
              </a:rPr>
              <a:t>For </a:t>
            </a:r>
            <a:r>
              <a:rPr lang="en-US" sz="2400" dirty="0">
                <a:latin typeface="Times-Roman"/>
              </a:rPr>
              <a:t>example, instead of using only one global </a:t>
            </a:r>
            <a:r>
              <a:rPr lang="en-US" sz="2400" dirty="0" smtClean="0">
                <a:latin typeface="Times-Roman"/>
              </a:rPr>
              <a:t>address (200.24.5.8</a:t>
            </a:r>
            <a:r>
              <a:rPr lang="en-US" sz="2400" dirty="0">
                <a:latin typeface="Times-Roman"/>
              </a:rPr>
              <a:t>), the NAT router can use four addresses (200.24.5.8, </a:t>
            </a:r>
            <a:r>
              <a:rPr lang="en-US" sz="2400" dirty="0" smtClean="0">
                <a:latin typeface="Times-Roman"/>
              </a:rPr>
              <a:t>200.24.5.9, 200.24.5.10</a:t>
            </a:r>
            <a:r>
              <a:rPr lang="en-US" sz="2400" dirty="0">
                <a:latin typeface="Times-Roman"/>
              </a:rPr>
              <a:t>, and 200.24.5.11</a:t>
            </a:r>
            <a:r>
              <a:rPr lang="en-US" sz="2400" dirty="0" smtClean="0">
                <a:latin typeface="Times-Roman"/>
              </a:rPr>
              <a:t>).</a:t>
            </a:r>
          </a:p>
          <a:p>
            <a:pPr algn="just"/>
            <a:r>
              <a:rPr lang="en-US" sz="2400" dirty="0" smtClean="0">
                <a:latin typeface="Times-Roman"/>
              </a:rPr>
              <a:t> </a:t>
            </a:r>
          </a:p>
          <a:p>
            <a:pPr algn="just"/>
            <a:r>
              <a:rPr lang="en-US" sz="2400" dirty="0" smtClean="0">
                <a:latin typeface="Times-Roman"/>
              </a:rPr>
              <a:t>In </a:t>
            </a:r>
            <a:r>
              <a:rPr lang="en-US" sz="2400" dirty="0">
                <a:latin typeface="Times-Roman"/>
              </a:rPr>
              <a:t>this case, four private-network hosts can </a:t>
            </a:r>
            <a:r>
              <a:rPr lang="en-US" sz="2400" dirty="0" smtClean="0">
                <a:latin typeface="Times-Roman"/>
              </a:rPr>
              <a:t>communicate with </a:t>
            </a:r>
            <a:r>
              <a:rPr lang="en-US" sz="2400" dirty="0">
                <a:latin typeface="Times-Roman"/>
              </a:rPr>
              <a:t>the same external host at the same time because each pair of addresses defines </a:t>
            </a:r>
            <a:r>
              <a:rPr lang="en-US" sz="2400" dirty="0" smtClean="0">
                <a:latin typeface="Times-Roman"/>
              </a:rPr>
              <a:t>a separate </a:t>
            </a:r>
            <a:r>
              <a:rPr lang="en-US" sz="2400" dirty="0">
                <a:latin typeface="Times-Roman"/>
              </a:rPr>
              <a:t>connection. However, there are still some drawbacks. </a:t>
            </a:r>
            <a:endParaRPr lang="en-US" sz="2400" dirty="0" smtClean="0">
              <a:latin typeface="Times-Roman"/>
            </a:endParaRPr>
          </a:p>
          <a:p>
            <a:pPr algn="just"/>
            <a:endParaRPr lang="en-US" sz="2400" dirty="0" smtClean="0">
              <a:latin typeface="Times-Roman"/>
            </a:endParaRPr>
          </a:p>
          <a:p>
            <a:pPr algn="just"/>
            <a:r>
              <a:rPr lang="en-US" sz="2400" dirty="0" smtClean="0">
                <a:latin typeface="Times-Roman"/>
              </a:rPr>
              <a:t>No </a:t>
            </a:r>
            <a:r>
              <a:rPr lang="en-US" sz="2400" dirty="0">
                <a:latin typeface="Times-Roman"/>
              </a:rPr>
              <a:t>more than four </a:t>
            </a:r>
            <a:r>
              <a:rPr lang="en-US" sz="2400" dirty="0" smtClean="0">
                <a:latin typeface="Times-Roman"/>
              </a:rPr>
              <a:t>connections can </a:t>
            </a:r>
            <a:r>
              <a:rPr lang="en-US" sz="2400" dirty="0">
                <a:latin typeface="Times-Roman"/>
              </a:rPr>
              <a:t>be made to the same destination.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22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676400" y="338178"/>
            <a:ext cx="309482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Addresses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5483" y="720144"/>
            <a:ext cx="1094629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This-host Address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address in the block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0.0.0.0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this-host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address. It is used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needs to send an IP datagram but it does not know its own address to use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address. 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Limited-broadcast Address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address in the block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255.255.255.255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limited-broadcast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address. 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whenever a router or a host needs to send a datagram to all devices in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network.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in the network, however, block the packet having this address as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destination;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cannot travel outside the network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Loopback Address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loopback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address. A packet with one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block as the destination address never leaves the host; it will remain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host. Any address in the block is used to test a piece of software in the machine.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write a client and a server program in which one of the addresses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as the server address. We can test the programs using the same host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 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before running them on different computers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Addresses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blocks are assigned as private addresses: 10.0.0.0/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172.16.0.0/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192.168.0.0/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169.254.0.0/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224.0.0.0/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reserved for multicast addresses.</a:t>
            </a:r>
          </a:p>
        </p:txBody>
      </p:sp>
    </p:spTree>
    <p:extLst>
      <p:ext uri="{BB962C8B-B14F-4D97-AF65-F5344CB8AC3E}">
        <p14:creationId xmlns:p14="http://schemas.microsoft.com/office/powerpoint/2010/main" val="24256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699" y="1055411"/>
            <a:ext cx="9086593" cy="35430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76400" y="218301"/>
            <a:ext cx="795294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-Bold"/>
              </a:rPr>
              <a:t>Forwarding Based on Destination Address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2615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770731" cy="50490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981" y="625910"/>
            <a:ext cx="6104019" cy="258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1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39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946150"/>
            <a:ext cx="8736703" cy="24856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5617" y="3654849"/>
            <a:ext cx="1005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forwarding process if a packet arrives at R1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destination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180.70.65.140.</a:t>
            </a:r>
          </a:p>
        </p:txBody>
      </p:sp>
    </p:spTree>
    <p:extLst>
      <p:ext uri="{BB962C8B-B14F-4D97-AF65-F5344CB8AC3E}">
        <p14:creationId xmlns:p14="http://schemas.microsoft.com/office/powerpoint/2010/main" val="8422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1521" y="55601"/>
            <a:ext cx="362169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Aggregation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145"/>
          <a:stretch/>
        </p:blipFill>
        <p:spPr>
          <a:xfrm>
            <a:off x="838200" y="567651"/>
            <a:ext cx="10161104" cy="623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4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01842" y="260350"/>
            <a:ext cx="418095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Mask Matching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708" t="2219"/>
          <a:stretch/>
        </p:blipFill>
        <p:spPr>
          <a:xfrm>
            <a:off x="1772478" y="922297"/>
            <a:ext cx="8666922" cy="542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2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807" y="861752"/>
            <a:ext cx="9816549" cy="53326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76400" y="319922"/>
            <a:ext cx="522829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routing with ISPs</a:t>
            </a:r>
          </a:p>
        </p:txBody>
      </p:sp>
    </p:spTree>
    <p:extLst>
      <p:ext uri="{BB962C8B-B14F-4D97-AF65-F5344CB8AC3E}">
        <p14:creationId xmlns:p14="http://schemas.microsoft.com/office/powerpoint/2010/main" val="196837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2889"/>
          <a:stretch/>
        </p:blipFill>
        <p:spPr>
          <a:xfrm>
            <a:off x="1009623" y="2166731"/>
            <a:ext cx="10096554" cy="40816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5571" r="4364"/>
          <a:stretch/>
        </p:blipFill>
        <p:spPr>
          <a:xfrm>
            <a:off x="132522" y="981132"/>
            <a:ext cx="6427305" cy="1220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61268" y="288408"/>
            <a:ext cx="42402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IP4- Datagram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31661" y="1338000"/>
            <a:ext cx="49391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data = total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 - (HLEN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36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1355095"/>
            <a:ext cx="8301245" cy="27494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86434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and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value of the protocol field</a:t>
            </a:r>
          </a:p>
        </p:txBody>
      </p:sp>
    </p:spTree>
    <p:extLst>
      <p:ext uri="{BB962C8B-B14F-4D97-AF65-F5344CB8AC3E}">
        <p14:creationId xmlns:p14="http://schemas.microsoft.com/office/powerpoint/2010/main" val="427879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67409" y="1062335"/>
            <a:ext cx="1049572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IPv4 packet has arrived with the first 8 bits as (01000010)2 The receiver discards the packet. Why? </a:t>
            </a:r>
          </a:p>
          <a:p>
            <a:pPr marL="342900" indent="-342900">
              <a:buAutoNum type="arabicPeriod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an IPv4 packet, the value of HLEN is (1000)2. How many bytes of options are being carried by this packet?</a:t>
            </a:r>
          </a:p>
          <a:p>
            <a:pPr marL="342900" indent="-342900">
              <a:buAutoNum type="arabicPeriod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an IPv4 packet, the value of HLEN is 5, and the value of the total length field is (0028)16. How many bytes of data are being carried by this packet?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An IPv4 packet has arrived with the first few hexadecimal digits as shown.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(45000028000100000102…)16   How many hops can this packet travel before being dropped? The data belong to what upper-layer protocol?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4323"/>
          <a:stretch/>
        </p:blipFill>
        <p:spPr>
          <a:xfrm>
            <a:off x="2429702" y="874645"/>
            <a:ext cx="6886575" cy="555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5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676400" y="360919"/>
            <a:ext cx="28039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2336" y="945694"/>
            <a:ext cx="107511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and size of the received frame depend on the protocol used by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network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which the frame has just traveled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Transfer Unit (MTU)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link-layer protocol has its own frame format. One of the features of each format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size of the payload that can be encapsulated. In other words, when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datagram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encapsulated in a frame, the total size of the datagram must be less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this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size, which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by the restrictions imposed by the hardware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software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the network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89" y="3737956"/>
            <a:ext cx="7710055" cy="242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130717"/>
            <a:ext cx="1053547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2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2.  flags</a:t>
            </a: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offset. </a:t>
            </a:r>
            <a:endParaRPr lang="en-US" sz="22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The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16-bit </a:t>
            </a:r>
            <a:r>
              <a:rPr lang="en-US" sz="2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field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a datagram originating from the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host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combination of the identification and source IP address must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uniquely define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datagram as it leaves the source host. To guarantee uniqueness, the IP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uses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counter to label the datagrams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3-bit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 field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three flags.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leftmost bit is reserved (not used).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(D bit) is called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fragment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bit.</a:t>
            </a: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1--not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the datagram. If it cannot pass the datagram through any available physical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network, it discards the datagram and sends an ICMP error message to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Host.</a:t>
            </a: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0--the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 can be fragmented if necessary.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hird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(M bit) is called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fragment bit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1--,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datagram 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last fragment; there are more fragments after this one. If its value is 0,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last or only fragment.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6400" y="225209"/>
            <a:ext cx="5846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Related to Fragmentation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62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49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3243" y="986115"/>
            <a:ext cx="1044931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fragmentation offset: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13-bit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offset field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relative position of this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with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to the whole datagram.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offset of the data in the original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datagram measured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units of 8 bytes.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28" y="2638693"/>
            <a:ext cx="8355081" cy="2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8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790" y="-92765"/>
            <a:ext cx="8463584" cy="69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1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40904" y="946150"/>
            <a:ext cx="102041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has arrived with an M bit value of 0. Is this the first fragment, the last fragment, 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middle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fragment? Do we know if the packet was fragmented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packet has arrived with an M bit value of 1. Is this the first fragment, the last fragment, 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middle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fragment? Do we know if the packet was fragmented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packet has arrived with an M bit value of 1 and a fragmentation offset value of 0. Is this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fragment, the last fragment, or a middle fragment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packet has arrived in which the offset value is 100. What is the number of the first byte? Do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know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the last byte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packet has arrived in which the offset value is 100, the value of HLEN is 5, and the value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field is 100. What are the numbers of the first byte and the last byte?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37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92714" y="338178"/>
            <a:ext cx="32061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Checksum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11" y="2482012"/>
            <a:ext cx="6458778" cy="36236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98447" y="1030902"/>
            <a:ext cx="8539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In ICMP the checksum is calculated over the entire message (header and data).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54242" y="310634"/>
            <a:ext cx="34489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IPv6 PROTOCOL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10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5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7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9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59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3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7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4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0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1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5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3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1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9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69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9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4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6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2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8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8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2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79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4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1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6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3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2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9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8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3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89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7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90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6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91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92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4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93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9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94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3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95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96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32453" y="1136448"/>
            <a:ext cx="103234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Identify the class of the IP address and note the Default Subnet Mask.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Convert the Default Subnet Mask into Binary.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Note the number of hosts required per subnet and find the Subnet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Generator (SG) and octet position.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Generate the new subnet mask.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Use the SG and generate the network ranges (subnets) in the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octet position.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78901" y="233690"/>
            <a:ext cx="4204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 - 5 STEPS</a:t>
            </a:r>
          </a:p>
        </p:txBody>
      </p:sp>
    </p:spTree>
    <p:extLst>
      <p:ext uri="{BB962C8B-B14F-4D97-AF65-F5344CB8AC3E}">
        <p14:creationId xmlns:p14="http://schemas.microsoft.com/office/powerpoint/2010/main" val="180154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97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4000" y="1181002"/>
            <a:ext cx="93030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SUBNETTING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10.10.10.1                        255.255.255.0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255.255.0.0 or 255.0.0.0;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Same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10.10.10.9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10.10.10.1	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255.255.255.248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10.10.10.9 		      Different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63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/>
              <a:t>1.</a:t>
            </a:r>
            <a:fld id="{474AE5E4-FBC1-4EA7-A706-5D174ABEC9AF}" type="slidenum">
              <a:rPr lang="en-US" sz="2000"/>
              <a:pPr/>
              <a:t>98</a:t>
            </a:fld>
            <a:endParaRPr lang="en-US" sz="2000"/>
          </a:p>
        </p:txBody>
      </p:sp>
      <p:sp>
        <p:nvSpPr>
          <p:cNvPr id="128003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4" name="Line 3"/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3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2289</Words>
  <Application>Microsoft Office PowerPoint</Application>
  <PresentationFormat>Widescreen</PresentationFormat>
  <Paragraphs>326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6" baseType="lpstr">
      <vt:lpstr>Arial</vt:lpstr>
      <vt:lpstr>Calibri</vt:lpstr>
      <vt:lpstr>Calibri Light</vt:lpstr>
      <vt:lpstr>Times New Roman</vt:lpstr>
      <vt:lpstr>Times-Bold</vt:lpstr>
      <vt:lpstr>Times-Italic</vt:lpstr>
      <vt:lpstr>Times-Roman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Gowtham</dc:creator>
  <cp:lastModifiedBy>Gowtham</cp:lastModifiedBy>
  <cp:revision>74</cp:revision>
  <dcterms:created xsi:type="dcterms:W3CDTF">2024-09-25T07:18:18Z</dcterms:created>
  <dcterms:modified xsi:type="dcterms:W3CDTF">2024-12-18T16:16:06Z</dcterms:modified>
</cp:coreProperties>
</file>